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1" r:id="rId7"/>
    <p:sldId id="270" r:id="rId8"/>
    <p:sldId id="269" r:id="rId9"/>
    <p:sldId id="274" r:id="rId10"/>
    <p:sldId id="273" r:id="rId11"/>
    <p:sldId id="275" r:id="rId12"/>
    <p:sldId id="276" r:id="rId13"/>
    <p:sldId id="277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405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– Driven Solutions for Autism Support: Enhancing Intervention and Inclusion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by: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Nitika Bansal 2210990623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Manya 2210990561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Akriti 2210991220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Prof. (Dr.) Monika 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lvl="0"/>
            <a:r>
              <a:rPr lang="en-US" sz="3200" b="1" dirty="0">
                <a:solidFill>
                  <a:srgbClr val="00214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The Global Challenge of ASD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11728" y="1099256"/>
            <a:ext cx="4117088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>
              <a:lnSpc>
                <a:spcPct val="160000"/>
              </a:lnSpc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 in every 31 child is identified with autism disorder as per CDC 2022. Autism Spectrum Disorder involves complexities in speech, social interactions, and repetitive </a:t>
            </a:r>
            <a:r>
              <a:rPr lang="en-US" sz="2000" dirty="0" err="1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behaviours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Traditional therapies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(Behavioral, Speech) are essential but often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complicated, expensive, and resource-heavy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creating a significant support gap in developing regions.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hart4_Race_Ethnicity">
            <a:extLst>
              <a:ext uri="{FF2B5EF4-FFF2-40B4-BE49-F238E27FC236}">
                <a16:creationId xmlns:a16="http://schemas.microsoft.com/office/drawing/2014/main" id="{E4C34265-C95E-68D4-EC96-447951557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7"/>
          <a:stretch>
            <a:fillRect/>
          </a:stretch>
        </p:blipFill>
        <p:spPr bwMode="auto">
          <a:xfrm>
            <a:off x="4572000" y="2057399"/>
            <a:ext cx="4443646" cy="34393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25F5-BBE9-48BF-DBBC-BD3072DC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0"/>
            <a:ext cx="6242304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3200" b="1" dirty="0">
                <a:solidFill>
                  <a:srgbClr val="00214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Core Technological Pillars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1601B2E8-5542-B519-B6FE-DC1AA017BDDF}"/>
              </a:ext>
            </a:extLst>
          </p:cNvPr>
          <p:cNvSpPr/>
          <p:nvPr/>
        </p:nvSpPr>
        <p:spPr>
          <a:xfrm>
            <a:off x="243840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AI Systems: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Machine learning for early diagnostics and behavior analysis.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7A952D09-A811-F70E-94CB-4E28BF39A93D}"/>
              </a:ext>
            </a:extLst>
          </p:cNvPr>
          <p:cNvSpPr/>
          <p:nvPr/>
        </p:nvSpPr>
        <p:spPr>
          <a:xfrm>
            <a:off x="2470282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Immersive VR: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Safe virtual spaces for social interaction and skill training.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F2FD3646-C919-F73C-71DA-663CC67047B9}"/>
              </a:ext>
            </a:extLst>
          </p:cNvPr>
          <p:cNvSpPr/>
          <p:nvPr/>
        </p:nvSpPr>
        <p:spPr>
          <a:xfrm>
            <a:off x="4696724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Mobile AAC: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Digital communication aids for minimally verbal individuals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BD0A6C2F-AD13-D20A-3723-5A29E03F74D7}"/>
              </a:ext>
            </a:extLst>
          </p:cNvPr>
          <p:cNvSpPr/>
          <p:nvPr/>
        </p:nvSpPr>
        <p:spPr>
          <a:xfrm>
            <a:off x="6908041" y="2248879"/>
            <a:ext cx="1901537" cy="2815936"/>
          </a:xfrm>
          <a:prstGeom prst="flowChartOffpage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Wearables: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Physiological monitoring to predict and manage meltdowns.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0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1026-7D1F-D895-334B-EC2CAD0F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00214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AI &amp; Predictive Diagnostics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D9FF7-C22A-F66A-F2AF-9C3BF3B6386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3470" y="1515960"/>
            <a:ext cx="8229240" cy="397728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&amp; Accurate Diagnostics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analyzes facial expressions, eye-gaze, and vocal patterns to identify ASD indicators in infants as early as six months with up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Biomarker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models and genetic mapping (HMM) estimate symptom severity and calculate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probabilities based on family history.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Monitoring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integrates with wearable sensors to monitor physiological data like heart rate, predicting and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behavioral meltdowns before they happen.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Intervention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clinicians and caregivers with unbiased, real-time data to create highly personalized and effective treatment plans. </a:t>
            </a:r>
          </a:p>
        </p:txBody>
      </p:sp>
    </p:spTree>
    <p:extLst>
      <p:ext uri="{BB962C8B-B14F-4D97-AF65-F5344CB8AC3E}">
        <p14:creationId xmlns:p14="http://schemas.microsoft.com/office/powerpoint/2010/main" val="301903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2AB7-F925-409D-D4E4-F8872659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554" y="0"/>
            <a:ext cx="5486040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Virtual &amp; Augmented Reality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7C351-0279-2E11-C08E-2E37CC54D0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3862" y="1801461"/>
            <a:ext cx="4382844" cy="397728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VR provides a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risk-free environment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for practicing social scripts, classroom behavior, and peer interaction. It reduces social anxiety and allows for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skill generalization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that often surpasses traditional clinical role-playing.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Social robots act as objective communicators, facilitating turn-taking and eye-tracking tasks with high engagement.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50;p18">
            <a:extLst>
              <a:ext uri="{FF2B5EF4-FFF2-40B4-BE49-F238E27FC236}">
                <a16:creationId xmlns:a16="http://schemas.microsoft.com/office/drawing/2014/main" id="{A3820C2A-97FD-9B44-EB5E-AF3A356FB8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3579" y="1801461"/>
            <a:ext cx="4334769" cy="33229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11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5C9B-CB4D-9C65-CA66-F3503280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" y="15111"/>
            <a:ext cx="6494318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2700" b="1" dirty="0">
                <a:solidFill>
                  <a:srgbClr val="002147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Empowering Communication: Mobile AAC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C8C95-47AB-759A-1F9F-336A7BE161C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8418" y="1709439"/>
            <a:ext cx="8467164" cy="2862561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Symbol-Based Systems: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Pictorial applications significantly improve expressive skills in minimally verbal children.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Adaptive Learning: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Apps tailored to unique sensory profiles maintain higher attention levels than traditional classes.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Caregiver Integration: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Mobile tools empower parents to act as "co-therapists" in home-based intervention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C9567-ABDD-6829-A8C3-0F41BBEBE948}"/>
              </a:ext>
            </a:extLst>
          </p:cNvPr>
          <p:cNvSpPr txBox="1"/>
          <p:nvPr/>
        </p:nvSpPr>
        <p:spPr>
          <a:xfrm>
            <a:off x="255201" y="4572000"/>
            <a:ext cx="7631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Key Outcome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Individualized visual stimuli and speech generation tools bridge the gap between home and clinical environments.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44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D06C-EA1A-E3AA-4FAE-9205971B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0"/>
            <a:ext cx="5486040" cy="91404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sz="32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Wearable Monitoring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856C1-2A4F-5E3E-DB4E-1B0A86D2ECA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3471" y="1612146"/>
            <a:ext cx="4480380" cy="397728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Wearable sensors monitor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heart rate variability (HRV) and skin conductance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to track cardiovascular arousal levels. Machine learning algorithms analyze this data to predict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behavioral dysregulation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and meltdowns before they occur.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This allows caregivers to implement </a:t>
            </a:r>
            <a:r>
              <a:rPr lang="en-US" sz="2000" b="1" dirty="0">
                <a:solidFill>
                  <a:srgbClr val="002147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proactive interventions</a:t>
            </a:r>
            <a:r>
              <a:rPr lang="en-US" sz="2000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improving the safety and quality of life for the individual.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0E47D-EBD7-6B97-DE34-19AFF5E5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50" r="29541"/>
          <a:stretch>
            <a:fillRect/>
          </a:stretch>
        </p:blipFill>
        <p:spPr>
          <a:xfrm>
            <a:off x="5204928" y="1249958"/>
            <a:ext cx="3293952" cy="489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01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F481-8F8E-5FD3-2470-C920003A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166254"/>
            <a:ext cx="6217920" cy="914040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Comparative Solution Matrix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/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058A4D76-9B30-C218-E638-B2DE4253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6" y="3031301"/>
            <a:ext cx="8884227" cy="231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851C7-6DF3-900A-B5BA-2D1337BE3797}"/>
              </a:ext>
            </a:extLst>
          </p:cNvPr>
          <p:cNvSpPr txBox="1"/>
          <p:nvPr/>
        </p:nvSpPr>
        <p:spPr>
          <a:xfrm>
            <a:off x="238991" y="1391510"/>
            <a:ext cx="8341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 Apps</a:t>
            </a:r>
            <a:r>
              <a:rPr lang="en-US" dirty="0"/>
              <a:t> lead in communication, </a:t>
            </a:r>
            <a:r>
              <a:rPr lang="en-US" b="1" dirty="0"/>
              <a:t>VR</a:t>
            </a:r>
            <a:r>
              <a:rPr lang="en-US" dirty="0"/>
              <a:t> in social skills, and </a:t>
            </a:r>
            <a:r>
              <a:rPr lang="en-US" b="1" dirty="0"/>
              <a:t>Wearables</a:t>
            </a:r>
            <a:r>
              <a:rPr lang="en-US" dirty="0"/>
              <a:t> in monitoring. Because no single tool covers all needs, an </a:t>
            </a:r>
            <a:r>
              <a:rPr lang="en-US" b="1" dirty="0"/>
              <a:t>integrated approach</a:t>
            </a:r>
            <a:r>
              <a:rPr lang="en-US" dirty="0"/>
              <a:t> is essential for the best intervention results. </a:t>
            </a:r>
          </a:p>
        </p:txBody>
      </p:sp>
    </p:spTree>
    <p:extLst>
      <p:ext uri="{BB962C8B-B14F-4D97-AF65-F5344CB8AC3E}">
        <p14:creationId xmlns:p14="http://schemas.microsoft.com/office/powerpoint/2010/main" val="3627368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8953-25C1-1FE4-E37C-AC1A80F8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176645"/>
            <a:ext cx="6546273" cy="91404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Research Focus Distribution (2018-2024)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pic>
        <p:nvPicPr>
          <p:cNvPr id="4" name="Google Shape;225;p22">
            <a:extLst>
              <a:ext uri="{FF2B5EF4-FFF2-40B4-BE49-F238E27FC236}">
                <a16:creationId xmlns:a16="http://schemas.microsoft.com/office/drawing/2014/main" id="{29A74E2B-E42A-9602-3C76-85D50156DC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1336" y="1277722"/>
            <a:ext cx="9123219" cy="4873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80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26A4-ABB6-F5F8-5C19-FE3540C9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78" y="249381"/>
            <a:ext cx="6473640" cy="705690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The Roadmap to Integrated Support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/>
          </a:p>
        </p:txBody>
      </p:sp>
      <p:sp>
        <p:nvSpPr>
          <p:cNvPr id="3" name="Google Shape;245;p23">
            <a:extLst>
              <a:ext uri="{FF2B5EF4-FFF2-40B4-BE49-F238E27FC236}">
                <a16:creationId xmlns:a16="http://schemas.microsoft.com/office/drawing/2014/main" id="{049B4423-EBB7-6923-2934-5CFEA246A6D0}"/>
              </a:ext>
            </a:extLst>
          </p:cNvPr>
          <p:cNvSpPr/>
          <p:nvPr/>
        </p:nvSpPr>
        <p:spPr>
          <a:xfrm>
            <a:off x="3260598" y="2122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245;p23">
            <a:extLst>
              <a:ext uri="{FF2B5EF4-FFF2-40B4-BE49-F238E27FC236}">
                <a16:creationId xmlns:a16="http://schemas.microsoft.com/office/drawing/2014/main" id="{8B0A9900-9CA4-F980-E215-0CCFA5CDB160}"/>
              </a:ext>
            </a:extLst>
          </p:cNvPr>
          <p:cNvSpPr/>
          <p:nvPr/>
        </p:nvSpPr>
        <p:spPr>
          <a:xfrm>
            <a:off x="1025652" y="20480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245;p23">
            <a:extLst>
              <a:ext uri="{FF2B5EF4-FFF2-40B4-BE49-F238E27FC236}">
                <a16:creationId xmlns:a16="http://schemas.microsoft.com/office/drawing/2014/main" id="{0D81A6E5-FDA5-45E7-AB08-A05581F09CC7}"/>
              </a:ext>
            </a:extLst>
          </p:cNvPr>
          <p:cNvSpPr/>
          <p:nvPr/>
        </p:nvSpPr>
        <p:spPr>
          <a:xfrm>
            <a:off x="7889748" y="2122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245;p23">
            <a:extLst>
              <a:ext uri="{FF2B5EF4-FFF2-40B4-BE49-F238E27FC236}">
                <a16:creationId xmlns:a16="http://schemas.microsoft.com/office/drawing/2014/main" id="{39ED5CAD-437F-5130-89A5-55A47E8C824A}"/>
              </a:ext>
            </a:extLst>
          </p:cNvPr>
          <p:cNvSpPr/>
          <p:nvPr/>
        </p:nvSpPr>
        <p:spPr>
          <a:xfrm>
            <a:off x="5381244" y="210423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DA0D2-8981-7BD9-638B-683F37AEA4E2}"/>
              </a:ext>
            </a:extLst>
          </p:cNvPr>
          <p:cNvSpPr txBox="1"/>
          <p:nvPr/>
        </p:nvSpPr>
        <p:spPr>
          <a:xfrm>
            <a:off x="2432304" y="2469924"/>
            <a:ext cx="185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b="1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Intervention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F3877-B463-C558-48E9-5951D9770FA4}"/>
              </a:ext>
            </a:extLst>
          </p:cNvPr>
          <p:cNvSpPr txBox="1"/>
          <p:nvPr/>
        </p:nvSpPr>
        <p:spPr>
          <a:xfrm>
            <a:off x="-1237488" y="2496821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Early Screening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C0EA0-EE0A-1164-0A32-112197EC7EEB}"/>
              </a:ext>
            </a:extLst>
          </p:cNvPr>
          <p:cNvSpPr txBox="1"/>
          <p:nvPr/>
        </p:nvSpPr>
        <p:spPr>
          <a:xfrm>
            <a:off x="4155507" y="2492609"/>
            <a:ext cx="2796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Daily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C0E54-0ED4-FFC9-23B3-C4C78163016A}"/>
              </a:ext>
            </a:extLst>
          </p:cNvPr>
          <p:cNvSpPr txBox="1"/>
          <p:nvPr/>
        </p:nvSpPr>
        <p:spPr>
          <a:xfrm>
            <a:off x="5609844" y="2462293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Hybrid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234;p23">
            <a:extLst>
              <a:ext uri="{FF2B5EF4-FFF2-40B4-BE49-F238E27FC236}">
                <a16:creationId xmlns:a16="http://schemas.microsoft.com/office/drawing/2014/main" id="{45D7F2BA-67DB-4DD6-CCC7-6A88D08999DB}"/>
              </a:ext>
            </a:extLst>
          </p:cNvPr>
          <p:cNvSpPr/>
          <p:nvPr/>
        </p:nvSpPr>
        <p:spPr>
          <a:xfrm flipV="1">
            <a:off x="182880" y="2925066"/>
            <a:ext cx="8822256" cy="457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91C9B-6688-5BC5-6DC6-6501E64FE445}"/>
              </a:ext>
            </a:extLst>
          </p:cNvPr>
          <p:cNvSpPr txBox="1"/>
          <p:nvPr/>
        </p:nvSpPr>
        <p:spPr>
          <a:xfrm>
            <a:off x="-18555" y="2990641"/>
            <a:ext cx="2305812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AI-driven predictive analytics for diagnosis in infancy.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BFAAD-5083-D38A-277C-2369593839C0}"/>
              </a:ext>
            </a:extLst>
          </p:cNvPr>
          <p:cNvSpPr txBox="1"/>
          <p:nvPr/>
        </p:nvSpPr>
        <p:spPr>
          <a:xfrm>
            <a:off x="2206752" y="2885976"/>
            <a:ext cx="2082615" cy="180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VR and AR immersive social skill training programs.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863BB-DCAD-C625-2F0D-4474598718A3}"/>
              </a:ext>
            </a:extLst>
          </p:cNvPr>
          <p:cNvSpPr txBox="1"/>
          <p:nvPr/>
        </p:nvSpPr>
        <p:spPr>
          <a:xfrm>
            <a:off x="4460727" y="3107575"/>
            <a:ext cx="2186524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Mobile AAC and wearables for real-time aid.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B582EA-2C73-D589-C595-A01E22946B84}"/>
              </a:ext>
            </a:extLst>
          </p:cNvPr>
          <p:cNvSpPr txBox="1"/>
          <p:nvPr/>
        </p:nvSpPr>
        <p:spPr>
          <a:xfrm>
            <a:off x="6501856" y="3029731"/>
            <a:ext cx="2716820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Integrated cloud-based personalized healthcare solutions.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34831</TotalTime>
  <Words>558</Words>
  <Application>Microsoft Office PowerPoint</Application>
  <PresentationFormat>On-screen Show (4:3)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Core Technological Pillars</vt:lpstr>
      <vt:lpstr>AI &amp; Predictive Diagnostics</vt:lpstr>
      <vt:lpstr>Virtual &amp; Augmented Reality</vt:lpstr>
      <vt:lpstr>Empowering Communication: Mobile AAC</vt:lpstr>
      <vt:lpstr>Wearable Monitoring</vt:lpstr>
      <vt:lpstr>Comparative Solution Matrix </vt:lpstr>
      <vt:lpstr>Research Focus Distribution (2018-2024) </vt:lpstr>
      <vt:lpstr>The Roadmap to Integrated Support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Nitika Bansal</dc:creator>
  <cp:lastModifiedBy>NITIKA BANSAL</cp:lastModifiedBy>
  <cp:revision>2300</cp:revision>
  <dcterms:created xsi:type="dcterms:W3CDTF">2010-04-09T07:36:15Z</dcterms:created>
  <dcterms:modified xsi:type="dcterms:W3CDTF">2026-04-29T06:38:15Z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